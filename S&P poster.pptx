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32004000" cy="21945600"/>
  <p:notesSz cx="6858000" cy="9144000"/>
  <p:defaultTextStyle>
    <a:defPPr>
      <a:defRPr lang="en-US"/>
    </a:defPPr>
    <a:lvl1pPr marL="0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1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3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2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4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82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64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43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1" id="{153E1B7A-84EA-8440-AA27-0AD46440BB48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9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FF6C00"/>
    <a:srgbClr val="FF8200"/>
    <a:srgbClr val="EFF9F4"/>
    <a:srgbClr val="FFFFFF"/>
    <a:srgbClr val="E2F4F1"/>
    <a:srgbClr val="FBE3D6"/>
    <a:srgbClr val="FFFFCC"/>
    <a:srgbClr val="FFFFEF"/>
    <a:srgbClr val="FD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0" autoAdjust="0"/>
    <p:restoredTop sz="94664"/>
  </p:normalViewPr>
  <p:slideViewPr>
    <p:cSldViewPr snapToGrid="0" showGuides="1">
      <p:cViewPr varScale="1">
        <p:scale>
          <a:sx n="47" d="100"/>
          <a:sy n="47" d="100"/>
        </p:scale>
        <p:origin x="1968" y="48"/>
      </p:cViewPr>
      <p:guideLst>
        <p:guide orient="horz" pos="6912"/>
        <p:guide pos="9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wmi, Saeefa Rubaiyet R" userId="e8ad5586-1a97-4cc6-b00e-366d5f4cf40f" providerId="ADAL" clId="{E595B44A-E0A7-4901-82CF-F4690B9915EB}"/>
    <pc:docChg chg="undo custSel addSld delSld modSld sldOrd modSection">
      <pc:chgData name="Nowmi, Saeefa Rubaiyet R" userId="e8ad5586-1a97-4cc6-b00e-366d5f4cf40f" providerId="ADAL" clId="{E595B44A-E0A7-4901-82CF-F4690B9915EB}" dt="2026-05-12T19:40:20.598" v="2503" actId="6264"/>
      <pc:docMkLst>
        <pc:docMk/>
      </pc:docMkLst>
      <pc:sldChg chg="addSp delSp modSp mod ord setBg">
        <pc:chgData name="Nowmi, Saeefa Rubaiyet R" userId="e8ad5586-1a97-4cc6-b00e-366d5f4cf40f" providerId="ADAL" clId="{E595B44A-E0A7-4901-82CF-F4690B9915EB}" dt="2026-05-12T19:37:19.475" v="2501" actId="1038"/>
        <pc:sldMkLst>
          <pc:docMk/>
          <pc:sldMk cId="1734048721" sldId="257"/>
        </pc:sldMkLst>
        <pc:picChg chg="add mod">
          <ac:chgData name="Nowmi, Saeefa Rubaiyet R" userId="e8ad5586-1a97-4cc6-b00e-366d5f4cf40f" providerId="ADAL" clId="{E595B44A-E0A7-4901-82CF-F4690B9915EB}" dt="2026-05-12T19:37:19.475" v="2501" actId="1038"/>
          <ac:picMkLst>
            <pc:docMk/>
            <pc:sldMk cId="1734048721" sldId="257"/>
            <ac:picMk id="8" creationId="{1374C9AE-ABDE-B4A0-25DD-1CCDE1D16505}"/>
          </ac:picMkLst>
        </pc:picChg>
        <pc:picChg chg="del">
          <ac:chgData name="Nowmi, Saeefa Rubaiyet R" userId="e8ad5586-1a97-4cc6-b00e-366d5f4cf40f" providerId="ADAL" clId="{E595B44A-E0A7-4901-82CF-F4690B9915EB}" dt="2026-05-12T19:35:09.556" v="2491" actId="21"/>
          <ac:picMkLst>
            <pc:docMk/>
            <pc:sldMk cId="1734048721" sldId="257"/>
            <ac:picMk id="76" creationId="{3CCBC898-5C9A-B134-106E-47E15BCB30B7}"/>
          </ac:picMkLst>
        </pc:picChg>
      </pc:sldChg>
      <pc:sldChg chg="new mod chgLayout">
        <pc:chgData name="Nowmi, Saeefa Rubaiyet R" userId="e8ad5586-1a97-4cc6-b00e-366d5f4cf40f" providerId="ADAL" clId="{E595B44A-E0A7-4901-82CF-F4690B9915EB}" dt="2026-05-12T19:40:20.598" v="2503" actId="6264"/>
        <pc:sldMkLst>
          <pc:docMk/>
          <pc:sldMk cId="307855172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4C6C9-C3BB-AA41-9100-C182246111B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143000"/>
            <a:ext cx="4502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7CC54-9999-9A40-B000-54A2973D2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1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3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2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4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82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64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43" algn="l" defTabSz="9143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1143000"/>
            <a:ext cx="4498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angle-encoded QMLP models are more robust to FGSM </a:t>
            </a:r>
            <a:br>
              <a:rPr lang="en-US" dirty="0"/>
            </a:br>
            <a:r>
              <a:rPr lang="en-US" dirty="0"/>
              <a:t>Amplitude-encoded models collapse under even small perturbations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7CC54-9999-9A40-B000-54A2973D2D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2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3591562"/>
            <a:ext cx="27203400" cy="7640320"/>
          </a:xfrm>
        </p:spPr>
        <p:txBody>
          <a:bodyPr anchor="b"/>
          <a:lstStyle>
            <a:lvl1pPr algn="ctr">
              <a:defRPr sz="191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0" y="11526522"/>
            <a:ext cx="24003000" cy="5298438"/>
          </a:xfrm>
        </p:spPr>
        <p:txBody>
          <a:bodyPr/>
          <a:lstStyle>
            <a:lvl1pPr marL="0" indent="0" algn="ctr">
              <a:buNone/>
              <a:defRPr sz="7679"/>
            </a:lvl1pPr>
            <a:lvl2pPr marL="1462969" indent="0" algn="ctr">
              <a:buNone/>
              <a:defRPr sz="6398"/>
            </a:lvl2pPr>
            <a:lvl3pPr marL="2925934" indent="0" algn="ctr">
              <a:buNone/>
              <a:defRPr sz="5761"/>
            </a:lvl3pPr>
            <a:lvl4pPr marL="4388902" indent="0" algn="ctr">
              <a:buNone/>
              <a:defRPr sz="5121"/>
            </a:lvl4pPr>
            <a:lvl5pPr marL="5851867" indent="0" algn="ctr">
              <a:buNone/>
              <a:defRPr sz="5121"/>
            </a:lvl5pPr>
            <a:lvl6pPr marL="7314836" indent="0" algn="ctr">
              <a:buNone/>
              <a:defRPr sz="5121"/>
            </a:lvl6pPr>
            <a:lvl7pPr marL="8777801" indent="0" algn="ctr">
              <a:buNone/>
              <a:defRPr sz="5121"/>
            </a:lvl7pPr>
            <a:lvl8pPr marL="10240769" indent="0" algn="ctr">
              <a:buNone/>
              <a:defRPr sz="5121"/>
            </a:lvl8pPr>
            <a:lvl9pPr marL="11703734" indent="0" algn="ctr">
              <a:buNone/>
              <a:defRPr sz="51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8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2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08" y="5471170"/>
            <a:ext cx="27603450" cy="9128758"/>
          </a:xfrm>
        </p:spPr>
        <p:txBody>
          <a:bodyPr anchor="b"/>
          <a:lstStyle>
            <a:lvl1pPr>
              <a:defRPr sz="191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08" y="14686290"/>
            <a:ext cx="27603450" cy="4800598"/>
          </a:xfrm>
        </p:spPr>
        <p:txBody>
          <a:bodyPr/>
          <a:lstStyle>
            <a:lvl1pPr marL="0" indent="0">
              <a:buNone/>
              <a:defRPr sz="7679">
                <a:solidFill>
                  <a:schemeClr val="tx1">
                    <a:tint val="82000"/>
                  </a:schemeClr>
                </a:solidFill>
              </a:defRPr>
            </a:lvl1pPr>
            <a:lvl2pPr marL="1462969" indent="0">
              <a:buNone/>
              <a:defRPr sz="6398">
                <a:solidFill>
                  <a:schemeClr val="tx1">
                    <a:tint val="82000"/>
                  </a:schemeClr>
                </a:solidFill>
              </a:defRPr>
            </a:lvl2pPr>
            <a:lvl3pPr marL="2925934" indent="0">
              <a:buNone/>
              <a:defRPr sz="5761">
                <a:solidFill>
                  <a:schemeClr val="tx1">
                    <a:tint val="82000"/>
                  </a:schemeClr>
                </a:solidFill>
              </a:defRPr>
            </a:lvl3pPr>
            <a:lvl4pPr marL="4388902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4pPr>
            <a:lvl5pPr marL="5851867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5pPr>
            <a:lvl6pPr marL="7314836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6pPr>
            <a:lvl7pPr marL="8777801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7pPr>
            <a:lvl8pPr marL="10240769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8pPr>
            <a:lvl9pPr marL="11703734" indent="0">
              <a:buNone/>
              <a:defRPr sz="51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6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5" y="5842000"/>
            <a:ext cx="1360170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25" y="5842000"/>
            <a:ext cx="1360170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3" y="1168408"/>
            <a:ext cx="27603450" cy="42418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47" y="5379722"/>
            <a:ext cx="13539190" cy="2636518"/>
          </a:xfrm>
        </p:spPr>
        <p:txBody>
          <a:bodyPr anchor="b"/>
          <a:lstStyle>
            <a:lvl1pPr marL="0" indent="0">
              <a:buNone/>
              <a:defRPr sz="7679" b="1"/>
            </a:lvl1pPr>
            <a:lvl2pPr marL="1462969" indent="0">
              <a:buNone/>
              <a:defRPr sz="6398" b="1"/>
            </a:lvl2pPr>
            <a:lvl3pPr marL="2925934" indent="0">
              <a:buNone/>
              <a:defRPr sz="5761" b="1"/>
            </a:lvl3pPr>
            <a:lvl4pPr marL="4388902" indent="0">
              <a:buNone/>
              <a:defRPr sz="5121" b="1"/>
            </a:lvl4pPr>
            <a:lvl5pPr marL="5851867" indent="0">
              <a:buNone/>
              <a:defRPr sz="5121" b="1"/>
            </a:lvl5pPr>
            <a:lvl6pPr marL="7314836" indent="0">
              <a:buNone/>
              <a:defRPr sz="5121" b="1"/>
            </a:lvl6pPr>
            <a:lvl7pPr marL="8777801" indent="0">
              <a:buNone/>
              <a:defRPr sz="5121" b="1"/>
            </a:lvl7pPr>
            <a:lvl8pPr marL="10240769" indent="0">
              <a:buNone/>
              <a:defRPr sz="5121" b="1"/>
            </a:lvl8pPr>
            <a:lvl9pPr marL="11703734" indent="0">
              <a:buNone/>
              <a:defRPr sz="51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47" y="8016240"/>
            <a:ext cx="13539190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0" y="5379722"/>
            <a:ext cx="13605869" cy="2636518"/>
          </a:xfrm>
        </p:spPr>
        <p:txBody>
          <a:bodyPr anchor="b"/>
          <a:lstStyle>
            <a:lvl1pPr marL="0" indent="0">
              <a:buNone/>
              <a:defRPr sz="7679" b="1"/>
            </a:lvl1pPr>
            <a:lvl2pPr marL="1462969" indent="0">
              <a:buNone/>
              <a:defRPr sz="6398" b="1"/>
            </a:lvl2pPr>
            <a:lvl3pPr marL="2925934" indent="0">
              <a:buNone/>
              <a:defRPr sz="5761" b="1"/>
            </a:lvl3pPr>
            <a:lvl4pPr marL="4388902" indent="0">
              <a:buNone/>
              <a:defRPr sz="5121" b="1"/>
            </a:lvl4pPr>
            <a:lvl5pPr marL="5851867" indent="0">
              <a:buNone/>
              <a:defRPr sz="5121" b="1"/>
            </a:lvl5pPr>
            <a:lvl6pPr marL="7314836" indent="0">
              <a:buNone/>
              <a:defRPr sz="5121" b="1"/>
            </a:lvl6pPr>
            <a:lvl7pPr marL="8777801" indent="0">
              <a:buNone/>
              <a:defRPr sz="5121" b="1"/>
            </a:lvl7pPr>
            <a:lvl8pPr marL="10240769" indent="0">
              <a:buNone/>
              <a:defRPr sz="5121" b="1"/>
            </a:lvl8pPr>
            <a:lvl9pPr marL="11703734" indent="0">
              <a:buNone/>
              <a:defRPr sz="51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0" y="8016240"/>
            <a:ext cx="13605869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7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9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1463040"/>
            <a:ext cx="10322123" cy="5120640"/>
          </a:xfrm>
        </p:spPr>
        <p:txBody>
          <a:bodyPr anchor="b"/>
          <a:lstStyle>
            <a:lvl1pPr>
              <a:defRPr sz="1024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68" y="3159768"/>
            <a:ext cx="16202025" cy="15595600"/>
          </a:xfrm>
        </p:spPr>
        <p:txBody>
          <a:bodyPr/>
          <a:lstStyle>
            <a:lvl1pPr>
              <a:defRPr sz="10241"/>
            </a:lvl1pPr>
            <a:lvl2pPr>
              <a:defRPr sz="8960"/>
            </a:lvl2pPr>
            <a:lvl3pPr>
              <a:defRPr sz="7679"/>
            </a:lvl3pPr>
            <a:lvl4pPr>
              <a:defRPr sz="6398"/>
            </a:lvl4pPr>
            <a:lvl5pPr>
              <a:defRPr sz="6398"/>
            </a:lvl5pPr>
            <a:lvl6pPr>
              <a:defRPr sz="6398"/>
            </a:lvl6pPr>
            <a:lvl7pPr>
              <a:defRPr sz="6398"/>
            </a:lvl7pPr>
            <a:lvl8pPr>
              <a:defRPr sz="6398"/>
            </a:lvl8pPr>
            <a:lvl9pPr>
              <a:defRPr sz="6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6583680"/>
            <a:ext cx="10322123" cy="12197082"/>
          </a:xfrm>
        </p:spPr>
        <p:txBody>
          <a:bodyPr/>
          <a:lstStyle>
            <a:lvl1pPr marL="0" indent="0">
              <a:buNone/>
              <a:defRPr sz="5121"/>
            </a:lvl1pPr>
            <a:lvl2pPr marL="1462969" indent="0">
              <a:buNone/>
              <a:defRPr sz="4480"/>
            </a:lvl2pPr>
            <a:lvl3pPr marL="2925934" indent="0">
              <a:buNone/>
              <a:defRPr sz="3840"/>
            </a:lvl3pPr>
            <a:lvl4pPr marL="4388902" indent="0">
              <a:buNone/>
              <a:defRPr sz="3199"/>
            </a:lvl4pPr>
            <a:lvl5pPr marL="5851867" indent="0">
              <a:buNone/>
              <a:defRPr sz="3199"/>
            </a:lvl5pPr>
            <a:lvl6pPr marL="7314836" indent="0">
              <a:buNone/>
              <a:defRPr sz="3199"/>
            </a:lvl6pPr>
            <a:lvl7pPr marL="8777801" indent="0">
              <a:buNone/>
              <a:defRPr sz="3199"/>
            </a:lvl7pPr>
            <a:lvl8pPr marL="10240769" indent="0">
              <a:buNone/>
              <a:defRPr sz="3199"/>
            </a:lvl8pPr>
            <a:lvl9pPr marL="11703734" indent="0">
              <a:buNone/>
              <a:defRPr sz="31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0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1463040"/>
            <a:ext cx="10322123" cy="5120640"/>
          </a:xfrm>
        </p:spPr>
        <p:txBody>
          <a:bodyPr anchor="b"/>
          <a:lstStyle>
            <a:lvl1pPr>
              <a:defRPr sz="1024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68" y="3159768"/>
            <a:ext cx="16202025" cy="15595600"/>
          </a:xfrm>
        </p:spPr>
        <p:txBody>
          <a:bodyPr anchor="t"/>
          <a:lstStyle>
            <a:lvl1pPr marL="0" indent="0">
              <a:buNone/>
              <a:defRPr sz="10241"/>
            </a:lvl1pPr>
            <a:lvl2pPr marL="1462969" indent="0">
              <a:buNone/>
              <a:defRPr sz="8960"/>
            </a:lvl2pPr>
            <a:lvl3pPr marL="2925934" indent="0">
              <a:buNone/>
              <a:defRPr sz="7679"/>
            </a:lvl3pPr>
            <a:lvl4pPr marL="4388902" indent="0">
              <a:buNone/>
              <a:defRPr sz="6398"/>
            </a:lvl4pPr>
            <a:lvl5pPr marL="5851867" indent="0">
              <a:buNone/>
              <a:defRPr sz="6398"/>
            </a:lvl5pPr>
            <a:lvl6pPr marL="7314836" indent="0">
              <a:buNone/>
              <a:defRPr sz="6398"/>
            </a:lvl6pPr>
            <a:lvl7pPr marL="8777801" indent="0">
              <a:buNone/>
              <a:defRPr sz="6398"/>
            </a:lvl7pPr>
            <a:lvl8pPr marL="10240769" indent="0">
              <a:buNone/>
              <a:defRPr sz="6398"/>
            </a:lvl8pPr>
            <a:lvl9pPr marL="11703734" indent="0">
              <a:buNone/>
              <a:defRPr sz="639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6583680"/>
            <a:ext cx="10322123" cy="12197082"/>
          </a:xfrm>
        </p:spPr>
        <p:txBody>
          <a:bodyPr/>
          <a:lstStyle>
            <a:lvl1pPr marL="0" indent="0">
              <a:buNone/>
              <a:defRPr sz="5121"/>
            </a:lvl1pPr>
            <a:lvl2pPr marL="1462969" indent="0">
              <a:buNone/>
              <a:defRPr sz="4480"/>
            </a:lvl2pPr>
            <a:lvl3pPr marL="2925934" indent="0">
              <a:buNone/>
              <a:defRPr sz="3840"/>
            </a:lvl3pPr>
            <a:lvl4pPr marL="4388902" indent="0">
              <a:buNone/>
              <a:defRPr sz="3199"/>
            </a:lvl4pPr>
            <a:lvl5pPr marL="5851867" indent="0">
              <a:buNone/>
              <a:defRPr sz="3199"/>
            </a:lvl5pPr>
            <a:lvl6pPr marL="7314836" indent="0">
              <a:buNone/>
              <a:defRPr sz="3199"/>
            </a:lvl6pPr>
            <a:lvl7pPr marL="8777801" indent="0">
              <a:buNone/>
              <a:defRPr sz="3199"/>
            </a:lvl7pPr>
            <a:lvl8pPr marL="10240769" indent="0">
              <a:buNone/>
              <a:defRPr sz="3199"/>
            </a:lvl8pPr>
            <a:lvl9pPr marL="11703734" indent="0">
              <a:buNone/>
              <a:defRPr sz="31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5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1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8" y="1168400"/>
            <a:ext cx="6900863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0" y="1168400"/>
            <a:ext cx="20302538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75" y="1168408"/>
            <a:ext cx="2760345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5" y="5842000"/>
            <a:ext cx="2760345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5" y="20340328"/>
            <a:ext cx="720090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D9495-2026-470A-B2C8-D373849639D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25" y="20340328"/>
            <a:ext cx="108013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25" y="20340328"/>
            <a:ext cx="720090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3F1DC-85A8-4523-8906-D0BDF8E8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2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5934" rtl="0" eaLnBrk="1" latinLnBrk="0" hangingPunct="1">
        <a:lnSpc>
          <a:spcPct val="90000"/>
        </a:lnSpc>
        <a:spcBef>
          <a:spcPct val="0"/>
        </a:spcBef>
        <a:buNone/>
        <a:defRPr sz="140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483" indent="-731483" algn="l" defTabSz="2925934" rtl="0" eaLnBrk="1" latinLnBrk="0" hangingPunct="1">
        <a:lnSpc>
          <a:spcPct val="90000"/>
        </a:lnSpc>
        <a:spcBef>
          <a:spcPts val="3199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79" kern="1200">
          <a:solidFill>
            <a:schemeClr val="tx1"/>
          </a:solidFill>
          <a:latin typeface="+mn-lt"/>
          <a:ea typeface="+mn-ea"/>
          <a:cs typeface="+mn-cs"/>
        </a:defRPr>
      </a:lvl2pPr>
      <a:lvl3pPr marL="3657416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398" kern="1200">
          <a:solidFill>
            <a:schemeClr val="tx1"/>
          </a:solidFill>
          <a:latin typeface="+mn-lt"/>
          <a:ea typeface="+mn-ea"/>
          <a:cs typeface="+mn-cs"/>
        </a:defRPr>
      </a:lvl3pPr>
      <a:lvl4pPr marL="5120385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4pPr>
      <a:lvl5pPr marL="6583350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5pPr>
      <a:lvl6pPr marL="8046318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6pPr>
      <a:lvl7pPr marL="9509283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7pPr>
      <a:lvl8pPr marL="10972252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8pPr>
      <a:lvl9pPr marL="12435217" indent="-731483" algn="l" defTabSz="2925934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1pPr>
      <a:lvl2pPr marL="1462969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2pPr>
      <a:lvl3pPr marL="2925934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3pPr>
      <a:lvl4pPr marL="4388902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4pPr>
      <a:lvl5pPr marL="5851867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5pPr>
      <a:lvl6pPr marL="7314836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6pPr>
      <a:lvl7pPr marL="8777801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7pPr>
      <a:lvl8pPr marL="10240769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8pPr>
      <a:lvl9pPr marL="11703734" algn="l" defTabSz="2925934" rtl="0" eaLnBrk="1" latinLnBrk="0" hangingPunct="1">
        <a:defRPr sz="5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E2298347-9388-CB62-4AFF-73B3726531EC}"/>
              </a:ext>
            </a:extLst>
          </p:cNvPr>
          <p:cNvSpPr/>
          <p:nvPr/>
        </p:nvSpPr>
        <p:spPr>
          <a:xfrm>
            <a:off x="21642" y="3348867"/>
            <a:ext cx="9131553" cy="18608034"/>
          </a:xfrm>
          <a:prstGeom prst="rect">
            <a:avLst/>
          </a:prstGeom>
          <a:solidFill>
            <a:srgbClr val="EFF9F4">
              <a:alpha val="69804"/>
            </a:srgbClr>
          </a:solidFill>
          <a:ln>
            <a:solidFill>
              <a:srgbClr val="E2F4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36" dirty="0"/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61FA53E5-1AC6-3F48-19D1-0429803E7151}"/>
              </a:ext>
            </a:extLst>
          </p:cNvPr>
          <p:cNvSpPr/>
          <p:nvPr/>
        </p:nvSpPr>
        <p:spPr>
          <a:xfrm>
            <a:off x="0" y="-2283"/>
            <a:ext cx="32004000" cy="3440059"/>
          </a:xfrm>
          <a:prstGeom prst="rect">
            <a:avLst/>
          </a:prstGeom>
          <a:solidFill>
            <a:srgbClr val="CAEEFB">
              <a:alpha val="61176"/>
            </a:srgbClr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4" tIns="45700" rIns="91424" bIns="45700" anchor="t" anchorCtr="0">
            <a:noAutofit/>
          </a:bodyPr>
          <a:lstStyle/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5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7E281-C6C3-AAF5-6D91-48908825F591}"/>
              </a:ext>
            </a:extLst>
          </p:cNvPr>
          <p:cNvSpPr txBox="1"/>
          <p:nvPr/>
        </p:nvSpPr>
        <p:spPr>
          <a:xfrm>
            <a:off x="3877335" y="2240216"/>
            <a:ext cx="23855006" cy="107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1" u="sng" dirty="0">
                <a:latin typeface="+mj-lt"/>
                <a:ea typeface="Arial"/>
                <a:cs typeface="Arial"/>
                <a:sym typeface="Arial"/>
              </a:rPr>
              <a:t>Saeefa Rubaiyet Nowmi</a:t>
            </a:r>
            <a:r>
              <a:rPr lang="en-US" sz="3601" u="sng" baseline="30000" dirty="0">
                <a:latin typeface="+mj-lt"/>
                <a:ea typeface="Arial"/>
                <a:cs typeface="Arial"/>
                <a:sym typeface="Arial"/>
              </a:rPr>
              <a:t>∗</a:t>
            </a:r>
            <a:r>
              <a:rPr lang="en-US" sz="3199" dirty="0">
                <a:solidFill>
                  <a:schemeClr val="accent2">
                    <a:lumMod val="75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, </a:t>
            </a:r>
            <a:r>
              <a:rPr lang="en-US" sz="3199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Jesus Lopez</a:t>
            </a:r>
            <a:r>
              <a:rPr lang="en-US" sz="3199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∗</a:t>
            </a:r>
            <a:r>
              <a:rPr lang="en-US" sz="3199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, Md Mahmudul Alam Imon</a:t>
            </a:r>
            <a:r>
              <a:rPr lang="en-US" sz="3199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†</a:t>
            </a:r>
            <a:r>
              <a:rPr lang="en-US" sz="3199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, Shahrooz </a:t>
            </a:r>
            <a:r>
              <a:rPr lang="en-US" sz="3199" dirty="0" err="1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Pouryousef</a:t>
            </a:r>
            <a:r>
              <a:rPr lang="en-US" sz="3199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‡</a:t>
            </a:r>
            <a:r>
              <a:rPr lang="en-US" sz="3199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, Mohammad </a:t>
            </a:r>
            <a:r>
              <a:rPr lang="en-US" sz="3199" dirty="0" err="1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Saidur</a:t>
            </a:r>
            <a:r>
              <a:rPr lang="en-US" sz="3199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 Rahman</a:t>
            </a:r>
            <a:r>
              <a:rPr lang="en-US" sz="3199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∗</a:t>
            </a:r>
          </a:p>
          <a:p>
            <a:pPr algn="ctr"/>
            <a:r>
              <a:rPr lang="en-US" sz="3199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∗</a:t>
            </a:r>
            <a:r>
              <a:rPr lang="en-US" sz="28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University of Texas at El Paso, </a:t>
            </a:r>
            <a:r>
              <a:rPr lang="en-US" sz="2800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†</a:t>
            </a:r>
            <a:r>
              <a:rPr lang="en-US" sz="28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University of Dhaka,</a:t>
            </a:r>
            <a:r>
              <a:rPr lang="en-US" sz="2800" baseline="300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 ‡</a:t>
            </a:r>
            <a:r>
              <a:rPr lang="en-US" sz="2800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University of Massachusetts Amherst</a:t>
            </a:r>
            <a:endParaRPr lang="en-US" sz="28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AD00D-87B1-0A9E-39FF-0BB512E0F745}"/>
              </a:ext>
            </a:extLst>
          </p:cNvPr>
          <p:cNvSpPr txBox="1"/>
          <p:nvPr/>
        </p:nvSpPr>
        <p:spPr>
          <a:xfrm>
            <a:off x="3705975" y="-82932"/>
            <a:ext cx="23556358" cy="2554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1" b="1" dirty="0">
                <a:solidFill>
                  <a:srgbClr val="002060"/>
                </a:solidFill>
              </a:rPr>
              <a:t>Critical Evaluation of Quantum Machine Learning </a:t>
            </a:r>
          </a:p>
          <a:p>
            <a:pPr algn="ctr"/>
            <a:r>
              <a:rPr lang="en-US" sz="8001" b="1" dirty="0">
                <a:solidFill>
                  <a:srgbClr val="002060"/>
                </a:solidFill>
              </a:rPr>
              <a:t>for Adversarial Robustness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3B75E5-4B8B-F4AE-4DC2-084B9DA5463F}"/>
              </a:ext>
            </a:extLst>
          </p:cNvPr>
          <p:cNvSpPr/>
          <p:nvPr/>
        </p:nvSpPr>
        <p:spPr>
          <a:xfrm>
            <a:off x="22979096" y="3424653"/>
            <a:ext cx="9014411" cy="18608034"/>
          </a:xfrm>
          <a:prstGeom prst="rect">
            <a:avLst/>
          </a:prstGeom>
          <a:solidFill>
            <a:srgbClr val="EFF9F4">
              <a:alpha val="69804"/>
            </a:srgbClr>
          </a:solidFill>
          <a:ln>
            <a:solidFill>
              <a:srgbClr val="E2F4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1" indent="-457181">
              <a:buFont typeface="Wingdings" panose="05000000000000000000" pitchFamily="2" charset="2"/>
              <a:buChar char="q"/>
            </a:pPr>
            <a:r>
              <a:rPr lang="en-US" sz="536"/>
              <a:t>Angle encoding favors shallow circuits (highest accuracy gain for 10layer PQC)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866F1-6B09-D1E8-45DD-3EB11A7C1E9F}"/>
              </a:ext>
            </a:extLst>
          </p:cNvPr>
          <p:cNvSpPr/>
          <p:nvPr/>
        </p:nvSpPr>
        <p:spPr>
          <a:xfrm>
            <a:off x="9160704" y="3454149"/>
            <a:ext cx="13818392" cy="18502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/>
              <a:t>QTrojan</a:t>
            </a:r>
            <a:r>
              <a:rPr lang="en-US" sz="2800" dirty="0"/>
              <a:t> is stealthy but fails to scale, with low attack success (~17%) despite high accuracy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180EDED-8B50-6653-A7DC-9D23DD46D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22" y="12303598"/>
            <a:ext cx="8798283" cy="4232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66B465-9EEF-C33C-FD1F-64A245F7B938}"/>
              </a:ext>
            </a:extLst>
          </p:cNvPr>
          <p:cNvSpPr txBox="1"/>
          <p:nvPr/>
        </p:nvSpPr>
        <p:spPr>
          <a:xfrm>
            <a:off x="161420" y="3454195"/>
            <a:ext cx="8869679" cy="8512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522C0-8EED-E907-7C43-769386F7A0D9}"/>
              </a:ext>
            </a:extLst>
          </p:cNvPr>
          <p:cNvSpPr txBox="1"/>
          <p:nvPr/>
        </p:nvSpPr>
        <p:spPr>
          <a:xfrm>
            <a:off x="228344" y="6787101"/>
            <a:ext cx="8949864" cy="3755772"/>
          </a:xfrm>
          <a:prstGeom prst="rect">
            <a:avLst/>
          </a:prstGeom>
          <a:solidFill>
            <a:srgbClr val="EFF9F4">
              <a:alpha val="20000"/>
            </a:srgbClr>
          </a:solidFill>
        </p:spPr>
        <p:txBody>
          <a:bodyPr wrap="square" anchor="ctr">
            <a:spAutoFit/>
          </a:bodyPr>
          <a:lstStyle/>
          <a:p>
            <a:r>
              <a:rPr lang="en-US" sz="2601" b="1" dirty="0">
                <a:solidFill>
                  <a:schemeClr val="accent2">
                    <a:lumMod val="50000"/>
                  </a:schemeClr>
                </a:solidFill>
              </a:rPr>
              <a:t>RQ1. </a:t>
            </a:r>
            <a:r>
              <a:rPr lang="en-US" sz="2601" dirty="0"/>
              <a:t>Dominant threat vectors in hybrid quantum-classical architectures and their systematic classification.</a:t>
            </a:r>
            <a:br>
              <a:rPr lang="en-US" sz="2601" dirty="0"/>
            </a:br>
            <a:endParaRPr lang="en-US" sz="2601" dirty="0"/>
          </a:p>
          <a:p>
            <a:r>
              <a:rPr lang="en-US" sz="2601" b="1" dirty="0">
                <a:solidFill>
                  <a:schemeClr val="accent2">
                    <a:lumMod val="50000"/>
                  </a:schemeClr>
                </a:solidFill>
              </a:rPr>
              <a:t>RQ2. </a:t>
            </a:r>
            <a:r>
              <a:rPr lang="en-US" sz="2601" dirty="0"/>
              <a:t>Effects of circuit depth and data encoding on QML performance and adversarial robustness under NISQ constraints.</a:t>
            </a:r>
            <a:br>
              <a:rPr lang="en-US" sz="2601" dirty="0"/>
            </a:br>
            <a:endParaRPr lang="en-US" sz="2601" dirty="0"/>
          </a:p>
          <a:p>
            <a:r>
              <a:rPr lang="en-US" sz="2601" b="1" dirty="0">
                <a:solidFill>
                  <a:schemeClr val="accent2">
                    <a:lumMod val="50000"/>
                  </a:schemeClr>
                </a:solidFill>
              </a:rPr>
              <a:t>RQ3. </a:t>
            </a:r>
            <a:r>
              <a:rPr lang="en-US" sz="2800" dirty="0"/>
              <a:t>Resiliency of current QML models and defenses against diverse attacks.</a:t>
            </a:r>
            <a:endParaRPr lang="en-US" sz="2601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0A87526C-C18A-B5CB-F669-653C11AC6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470" y="15895218"/>
            <a:ext cx="7387510" cy="540243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9E29C41A-EFB2-1651-E35B-2F46629225FF}"/>
              </a:ext>
            </a:extLst>
          </p:cNvPr>
          <p:cNvSpPr txBox="1"/>
          <p:nvPr/>
        </p:nvSpPr>
        <p:spPr>
          <a:xfrm>
            <a:off x="252096" y="4344707"/>
            <a:ext cx="8871601" cy="1293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1" b="1" dirty="0"/>
              <a:t>Quantum Machine Learning (QML)</a:t>
            </a:r>
            <a:r>
              <a:rPr lang="en-US" sz="2601" dirty="0"/>
              <a:t> </a:t>
            </a:r>
          </a:p>
          <a:p>
            <a:pPr marL="457177" indent="-457177" algn="just">
              <a:buFont typeface="Wingdings" pitchFamily="2" charset="2"/>
              <a:buChar char="§"/>
            </a:pPr>
            <a:r>
              <a:rPr lang="en-US" sz="2601" dirty="0"/>
              <a:t>Quantum computational principles </a:t>
            </a:r>
            <a:r>
              <a:rPr lang="en-US" sz="2601" dirty="0">
                <a:sym typeface="Wingdings" pitchFamily="2" charset="2"/>
              </a:rPr>
              <a:t></a:t>
            </a:r>
            <a:r>
              <a:rPr lang="en-US" sz="2601" dirty="0"/>
              <a:t> learning algorithms</a:t>
            </a:r>
          </a:p>
          <a:p>
            <a:pPr marL="457177" indent="-457177" algn="just">
              <a:buFont typeface="Wingdings" pitchFamily="2" charset="2"/>
              <a:buChar char="§"/>
            </a:pPr>
            <a:r>
              <a:rPr lang="en-US" sz="2601" dirty="0"/>
              <a:t>Improved representational capacity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9496F67-0ED1-1513-9B2E-1696760120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3318" y="564824"/>
            <a:ext cx="2163676" cy="2163676"/>
          </a:xfrm>
          <a:prstGeom prst="rect">
            <a:avLst/>
          </a:prstGeom>
        </p:spPr>
      </p:pic>
      <p:pic>
        <p:nvPicPr>
          <p:cNvPr id="27" name="Picture 26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9FF5608-B231-E197-79CA-293B4F8BC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2673" y="240516"/>
            <a:ext cx="2942478" cy="294247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3A0D0-1B1E-B950-4342-05B453B05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94" y="557845"/>
            <a:ext cx="1919348" cy="19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iversity of Dhaka - Wikipedia">
            <a:extLst>
              <a:ext uri="{FF2B5EF4-FFF2-40B4-BE49-F238E27FC236}">
                <a16:creationId xmlns:a16="http://schemas.microsoft.com/office/drawing/2014/main" id="{D04A8AFB-A006-5946-27A6-275BA7BC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733" y="591415"/>
            <a:ext cx="1489320" cy="187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4B36F92-38F0-E5EA-A61E-3F1B0BC8C06C}"/>
              </a:ext>
            </a:extLst>
          </p:cNvPr>
          <p:cNvSpPr txBox="1"/>
          <p:nvPr/>
        </p:nvSpPr>
        <p:spPr>
          <a:xfrm>
            <a:off x="212707" y="10824157"/>
            <a:ext cx="8535055" cy="1600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Parameterized Quantum Circuit</a:t>
            </a:r>
            <a:br>
              <a:rPr lang="en-US" sz="4400" b="1" dirty="0"/>
            </a:br>
            <a:r>
              <a:rPr lang="en-US" sz="4400" b="1" dirty="0"/>
              <a:t>as  a QML model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F64CC1-1E2F-56D7-B479-BB4E9D541976}"/>
              </a:ext>
            </a:extLst>
          </p:cNvPr>
          <p:cNvSpPr txBox="1"/>
          <p:nvPr/>
        </p:nvSpPr>
        <p:spPr>
          <a:xfrm>
            <a:off x="23346927" y="3424429"/>
            <a:ext cx="8413234" cy="8512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Attack Taxonomy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F43E7C8-6BE1-9930-3A32-CEE7ECC911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0725" y="4329814"/>
            <a:ext cx="9024194" cy="1032535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32A9739E-3667-6DF0-8AB4-F63A394EA70E}"/>
              </a:ext>
            </a:extLst>
          </p:cNvPr>
          <p:cNvSpPr txBox="1"/>
          <p:nvPr/>
        </p:nvSpPr>
        <p:spPr>
          <a:xfrm>
            <a:off x="23472832" y="14861533"/>
            <a:ext cx="8129727" cy="8512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Defense Pipeline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6C0CB2-B8AC-1A77-DF76-0B44C72FE662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36" y="17839139"/>
            <a:ext cx="6903621" cy="40729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DEF2B9-2FC0-187D-A83D-DA790FFFF9B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/>
          <a:stretch>
            <a:fillRect/>
          </a:stretch>
        </p:blipFill>
        <p:spPr>
          <a:xfrm>
            <a:off x="16453113" y="17858648"/>
            <a:ext cx="6316076" cy="406348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ABD26DE-4E05-1DE0-D3FF-318C15EED072}"/>
              </a:ext>
            </a:extLst>
          </p:cNvPr>
          <p:cNvSpPr txBox="1"/>
          <p:nvPr/>
        </p:nvSpPr>
        <p:spPr>
          <a:xfrm>
            <a:off x="107760" y="16855227"/>
            <a:ext cx="8905614" cy="8512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Experimental Setup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29F132-28CD-F515-D5FC-B222DC98F9C6}"/>
              </a:ext>
            </a:extLst>
          </p:cNvPr>
          <p:cNvSpPr txBox="1"/>
          <p:nvPr/>
        </p:nvSpPr>
        <p:spPr>
          <a:xfrm>
            <a:off x="30349013" y="21493441"/>
            <a:ext cx="1616192" cy="492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1" b="1">
                <a:solidFill>
                  <a:srgbClr val="FF0000"/>
                </a:solidFill>
              </a:rPr>
              <a:t>Scan me!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B33FD0-4141-8E45-71E0-10A2AAEA0293}"/>
              </a:ext>
            </a:extLst>
          </p:cNvPr>
          <p:cNvSpPr txBox="1"/>
          <p:nvPr/>
        </p:nvSpPr>
        <p:spPr>
          <a:xfrm>
            <a:off x="215091" y="5574069"/>
            <a:ext cx="8798283" cy="120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1" b="1" i="1" dirty="0">
                <a:solidFill>
                  <a:srgbClr val="FF0000"/>
                </a:solidFill>
                <a:latin typeface="Charter" panose="02040503050506020203" pitchFamily="18" charset="0"/>
              </a:rPr>
              <a:t>Security and robustness of QML </a:t>
            </a:r>
            <a:br>
              <a:rPr lang="en-US" sz="3601" b="1" i="1" dirty="0">
                <a:solidFill>
                  <a:srgbClr val="FF0000"/>
                </a:solidFill>
                <a:latin typeface="Charter" panose="02040503050506020203" pitchFamily="18" charset="0"/>
              </a:rPr>
            </a:br>
            <a:r>
              <a:rPr lang="en-US" sz="3601" b="1" i="1" dirty="0">
                <a:solidFill>
                  <a:srgbClr val="FF0000"/>
                </a:solidFill>
                <a:latin typeface="Charter" panose="02040503050506020203" pitchFamily="18" charset="0"/>
              </a:rPr>
              <a:t>remain largely underexplored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D1C638C-68DD-A105-A860-DF3E7442AD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7" y="17914163"/>
            <a:ext cx="8876907" cy="3754874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3B1AF08-D5E5-702B-A497-CE230DC0BDD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35" y="6251690"/>
            <a:ext cx="5543178" cy="396316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4BA5B87-2BE4-8B97-D012-9A0EF3321032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1"/>
          <a:stretch>
            <a:fillRect/>
          </a:stretch>
        </p:blipFill>
        <p:spPr>
          <a:xfrm>
            <a:off x="16691592" y="6184415"/>
            <a:ext cx="5267280" cy="406089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9AC757E8-E68A-503E-31F5-EF883E5BBFC2}"/>
              </a:ext>
            </a:extLst>
          </p:cNvPr>
          <p:cNvSpPr txBox="1"/>
          <p:nvPr/>
        </p:nvSpPr>
        <p:spPr>
          <a:xfrm>
            <a:off x="9435387" y="16302181"/>
            <a:ext cx="130499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i="1" dirty="0">
                <a:solidFill>
                  <a:srgbClr val="FF6C00"/>
                </a:solidFill>
                <a:latin typeface="Charter" panose="02040503050506020203" pitchFamily="18" charset="0"/>
              </a:rPr>
              <a:t>Compared to CML, Shallow Angle-Encoded QML more Robust to FGSM</a:t>
            </a:r>
            <a:endParaRPr lang="en-US" sz="4800" i="1" dirty="0">
              <a:solidFill>
                <a:srgbClr val="FF6C00"/>
              </a:solidFill>
              <a:latin typeface="Charter" panose="020405030505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BEA72-6B23-0562-FB7D-14B0EFDDCCA4}"/>
              </a:ext>
            </a:extLst>
          </p:cNvPr>
          <p:cNvSpPr txBox="1"/>
          <p:nvPr/>
        </p:nvSpPr>
        <p:spPr>
          <a:xfrm>
            <a:off x="9511024" y="3518425"/>
            <a:ext cx="134575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solidFill>
                  <a:schemeClr val="accent3">
                    <a:lumMod val="75000"/>
                  </a:schemeClr>
                </a:solidFill>
              </a:rPr>
              <a:t>Deep amplitude encoded circuits achieve the best accuracy. But for NISQ devices, shallow angle encoded circuits are the most optimal choice.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F2A6B-BF91-4721-27B5-C36B39672E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171" y="11802226"/>
            <a:ext cx="7296691" cy="4346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A2077-A475-7CF1-3B82-623EEAF385F4}"/>
              </a:ext>
            </a:extLst>
          </p:cNvPr>
          <p:cNvSpPr txBox="1"/>
          <p:nvPr/>
        </p:nvSpPr>
        <p:spPr>
          <a:xfrm>
            <a:off x="9695171" y="10079158"/>
            <a:ext cx="12739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i="1" dirty="0" err="1">
                <a:solidFill>
                  <a:schemeClr val="accent5"/>
                </a:solidFill>
              </a:rPr>
              <a:t>Qtrojan</a:t>
            </a:r>
            <a:r>
              <a:rPr lang="en-US" sz="4800" b="1" i="1" dirty="0">
                <a:solidFill>
                  <a:schemeClr val="accent5"/>
                </a:solidFill>
              </a:rPr>
              <a:t>: Stealthy but fails to scale in multi-class classification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75970D-71E4-94EB-0111-9CCFB53CA6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67507" y="12073174"/>
            <a:ext cx="4621134" cy="3639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74C9AE-ABDE-B4A0-25DD-1CCDE1D165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9333" y="20075922"/>
            <a:ext cx="1407941" cy="14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4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55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960</TotalTime>
  <Words>231</Words>
  <Application>Microsoft Office PowerPoint</Application>
  <PresentationFormat>Custom</PresentationFormat>
  <Paragraphs>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Charter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Nowmi, Saeefa Rubaiyet R</dc:creator>
  <cp:lastModifiedBy>Nowmi, Saeefa Rubaiyet R</cp:lastModifiedBy>
  <cp:revision>4</cp:revision>
  <cp:lastPrinted>2026-03-20T06:58:58Z</cp:lastPrinted>
  <dcterms:created xsi:type="dcterms:W3CDTF">2026-03-18T21:21:21Z</dcterms:created>
  <dcterms:modified xsi:type="dcterms:W3CDTF">2026-05-12T19:40:26Z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2026-03-18T21:33:33Z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c7d1a4e2-ff86-4157-a554-e20f68f6a471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10, 3, 0, 1</vt:lpwstr>
  </property>
</Properties>
</file>